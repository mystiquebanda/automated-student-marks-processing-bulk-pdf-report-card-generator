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766E"/>
                </a:solidFill>
              </a:defRPr>
            </a:pPr>
            <a:r>
              <a:t>CONTINUOUS ASSESSMENT 3 (CA3) MINI PROJECT EVALUATION</a:t>
            </a:r>
          </a:p>
          <a:p>
            <a:pPr algn="ctr">
              <a:spcBef>
                <a:spcPts val="1000"/>
              </a:spcBef>
              <a:spcAft>
                <a:spcPts val="1200"/>
              </a:spcAft>
              <a:defRPr sz="2600" b="1">
                <a:solidFill>
                  <a:srgbClr val="1A365D"/>
                </a:solidFill>
              </a:defRPr>
            </a:pPr>
            <a:r>
              <a:t>Automated Student Marks Processing &amp;</a:t>
            </a:r>
            <a:br/>
            <a:r>
              <a:t>Bulk PDF Report Card Generator</a:t>
            </a:r>
          </a:p>
          <a:p>
            <a:pPr algn="ctr">
              <a:spcAft>
                <a:spcPts val="1800"/>
              </a:spcAft>
              <a:defRPr sz="1200" b="1">
                <a:solidFill>
                  <a:srgbClr val="1E293B"/>
                </a:solidFill>
              </a:defRPr>
            </a:pPr>
            <a:r>
              <a:t>Department of Robotics and Automation | Academic Session 2026-2027</a:t>
            </a:r>
          </a:p>
          <a:p>
            <a:pPr algn="ctr">
              <a:spcBef>
                <a:spcPts val="400"/>
              </a:spcBef>
              <a:defRPr sz="1250" b="1">
                <a:solidFill>
                  <a:srgbClr val="1A365D"/>
                </a:solidFill>
              </a:defRPr>
            </a:pPr>
            <a:r>
              <a:t>• Aditya Shankar Datta (PRN: 24070127009) — Project Lead &amp; Core Backend Architect</a:t>
            </a:r>
          </a:p>
          <a:p>
            <a:pPr algn="ctr">
              <a:spcBef>
                <a:spcPts val="400"/>
              </a:spcBef>
              <a:defRPr sz="1250" b="1">
                <a:solidFill>
                  <a:srgbClr val="1A365D"/>
                </a:solidFill>
              </a:defRPr>
            </a:pPr>
            <a:r>
              <a:t>• Pushkal Karakavalasa (PRN: 24070127057) — Defensive Engineering &amp; Logging Lead</a:t>
            </a:r>
          </a:p>
          <a:p>
            <a:pPr algn="ctr">
              <a:spcBef>
                <a:spcPts val="400"/>
              </a:spcBef>
              <a:defRPr sz="1250" b="1">
                <a:solidFill>
                  <a:srgbClr val="1A365D"/>
                </a:solidFill>
              </a:defRPr>
            </a:pPr>
            <a:r>
              <a:t>• Aniket Atole (PRN: 24070127017) — Document Engineering &amp; QA Specialist</a:t>
            </a:r>
          </a:p>
          <a:p>
            <a:pPr algn="ctr">
              <a:spcBef>
                <a:spcPts val="1600"/>
              </a:spcBef>
              <a:defRPr sz="1100">
                <a:solidFill>
                  <a:srgbClr val="64748B"/>
                </a:solidFill>
              </a:defRPr>
            </a:pPr>
            <a:r>
              <a:t>Technologies: Python 3.13  |  Pandas  |  OpenPyXL  |  ReportLab Platypus  |  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CA3 MINI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Executive Summary &amp; Core Engineering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1A365D"/>
                </a:solidFill>
              </a:defRPr>
            </a:pPr>
            <a:r>
              <a:t>Executive Summary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The Administrative Challenge: Continuous assessment processing in colleges suffers from human calculation errors, lack of input validation, and extreme delays in generating report cards.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The Autonomous Python Solution: An industrial-grade, zero-touch Python software engine that ingests Excel mark sheets, enforces two-tier defensive validation, computes academic metrics, and generates bulk PDF report cards.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Zero-Crash Guarantee: Engineered with non-blocking row-isolated exception handling that cleanly isolates dirty data into audit logs without stopping cohort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0F766E"/>
                </a:solidFill>
              </a:defRPr>
            </a:pPr>
            <a:r>
              <a:t>Core Engineering Objectives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Complete Automation: Eliminate 100% of manual transcription, percentage math, and mail-merges.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Defensive Exception Architecture: Implement strict two-tier try-except handling for file-level and row-level failures.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Sub-Second Execution Speed: Process an entire student cohort and compile styled PDFs in under 0.5 seconds.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Structured Institutional Audit Trail: Maintain persistent timestamped diagnostics for every caught error in error_log.txt.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High-Fidelity Artifacts: Generate vector PDF report cards via ReportLab and formatted Excel reports via OpenPyXL.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CA3 MINI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Problem Statement: Inefficiencies of Manual Academic Grading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B91C1C"/>
                </a:solidFill>
              </a:defRPr>
            </a:pPr>
            <a:r>
              <a:t>Flaws in Traditional Manual Workflow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Arithmetic &amp; Transcription Mistakes: Faculty manually calculate totals and percentages, resulting in calculation fatigue and human error.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Permissive Boundary Failures: Spreadsheets accept negative marks (-15), marks &gt; 100 (150), and text strings ('Absent') without warning.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Absence of Audit Logging: When errors are fixed manually, no history or diagnostic audit log exists to track modifications.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High Turnaround Overhead: Generating 60 student report cards manually takes 45 to 90 minutes of repetitive Word mail-merge.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0F766E"/>
                </a:solidFill>
              </a:defRPr>
            </a:pPr>
            <a:r>
              <a:t>The Autonomous Python Solution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Deterministic Accuracy: Programmatic computation of sums, percentages, and grades with 100% mathematical precision.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Defensive Boundary Guards: Enforces strict mathematical bounds: 0 &lt;= mark &lt;= 100 and 0 &lt;= attendance &lt;= 100.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Persistent Audit Logging: Every caught error is timestamped and recorded in error_log.txt with complete row data.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Sub-Second Bulk Generation: Processes cohort data and renders publication-ready vector PDFs in less than 0.5 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CA3 MINI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Course Outcome (CO1 - CO4) Competency Alignments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CO1: Problem Analysis &amp; Logic Design</a:t>
            </a:r>
          </a:p>
          <a:p>
            <a:pPr>
              <a:spcAft>
                <a:spcPts val="600"/>
              </a:spcAft>
              <a:defRPr sz="1000" b="1">
                <a:solidFill>
                  <a:srgbClr val="64748B"/>
                </a:solidFill>
              </a:defRPr>
            </a:pPr>
            <a:r>
              <a:t>Bloom's Level 4 (Analyze)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Formulated a deterministic grading algorithm with individual subject pass check (min 35/100), aggregate pass check (min 40%), and tiered grade rules (A/B/C/Pass/Fail).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766E"/>
                </a:solidFill>
              </a:defRPr>
            </a:pPr>
            <a:r>
              <a:t>CO2: Data Processing &amp; Structured Storage</a:t>
            </a:r>
          </a:p>
          <a:p>
            <a:pPr>
              <a:spcAft>
                <a:spcPts val="600"/>
              </a:spcAft>
              <a:defRPr sz="1000" b="1">
                <a:solidFill>
                  <a:srgbClr val="64748B"/>
                </a:solidFill>
              </a:defRPr>
            </a:pPr>
            <a:r>
              <a:t>Bloom's Level 3 (Apply)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Programmatically parsed, cleaned, and manipulated multi-column Excel datasets using Pandas DataFrames and OpenPyXL, managing missing values and types.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CO3: Exception Handling &amp; Robustness</a:t>
            </a:r>
          </a:p>
          <a:p>
            <a:pPr>
              <a:spcAft>
                <a:spcPts val="600"/>
              </a:spcAft>
              <a:defRPr sz="1000" b="1">
                <a:solidFill>
                  <a:srgbClr val="64748B"/>
                </a:solidFill>
              </a:defRPr>
            </a:pPr>
            <a:r>
              <a:t>Bloom's Level 5 (Evaluate)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Engineered a two-tier defensive hierarchy (outer try-except for file/schema errors, inner try-except for row boundary checks) delivering a zero-crash guarantee.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CO4: Automated Artifact Delivery</a:t>
            </a:r>
          </a:p>
          <a:p>
            <a:pPr>
              <a:spcAft>
                <a:spcPts val="600"/>
              </a:spcAft>
              <a:defRPr sz="1000" b="1">
                <a:solidFill>
                  <a:srgbClr val="64748B"/>
                </a:solidFill>
              </a:defRPr>
            </a:pPr>
            <a:r>
              <a:t>Bloom's Level 6 (Create)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Programmatically compiled vectorized, print-ready PDF report cards via ReportLab Platypus and styled Excel master summary workbooks via OpenPyXL.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CA3 MINI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Workflow Comparison: Traditional Manual vs. Proposed Automation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11480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Workflow Dimension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Manual Workflow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Proposed Automated Python Architecture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Data Ingestion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Manual spreadsheet opening, visual inspection.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Programmatic ingestion via Pandas DataFrame.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Input Validation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Ad-hoc spot checks; invalid marks easily leak in.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Strict float casting with boundary checks [0, 100].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Error Resilience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Unhandled formula errors (#VALUE!) crash sheets.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Faulty rows skipped and logged; loop continues cleanly.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Audit Logging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None; no records of rejected data or modifications.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Persistent timestamped diagnostic logs in error_log.txt.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Report Delivery &amp;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Manual Word mail-merge taking 45-90 minutes.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Sub-second batch generation of vector PDF report cards.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CA3 MINI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System Architecture &amp; Execution Flowchart</a:t>
            </a:r>
          </a:p>
        </p:txBody>
      </p:sp>
      <p:pic>
        <p:nvPicPr>
          <p:cNvPr id="5" name="Picture 4" descr="System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10362895" cy="35478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" y="4937760"/>
            <a:ext cx="3322015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50" b="1">
                <a:solidFill>
                  <a:srgbClr val="1A365D"/>
                </a:solidFill>
              </a:defRPr>
            </a:pPr>
            <a:r>
              <a:t>1. Ingestion &amp; File Check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Validates workbook exists and contains all 6 required headers. Missing file or corrupt schema triggers Scenario 1 halt &amp; 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4937760"/>
            <a:ext cx="3322015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50" b="1">
                <a:solidFill>
                  <a:srgbClr val="0F766E"/>
                </a:solidFill>
              </a:defRPr>
            </a:pPr>
            <a:r>
              <a:t>2. Row Check (Loop Guard)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Validates numeric types and bounds [0, 100]. Invalid rows (negative, &gt;100, 'Absent') trigger Scenario 2 skip &amp; log.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4937760"/>
            <a:ext cx="3322015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50" b="1">
                <a:solidFill>
                  <a:srgbClr val="1E3A8A"/>
                </a:solidFill>
              </a:defRPr>
            </a:pPr>
            <a:r>
              <a:t>3. Math, Grading &amp; Outputs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Calculates Total, Percentage, and assigns Grade A/B/C/Pass/Fail. Synthesizes bulk vector PDFs and styled master Excel.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CA3 MINI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Technical Implementation &amp; Software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A365D"/>
                </a:solidFill>
              </a:defRPr>
            </a:pPr>
            <a:r>
              <a:t>Software Stack &amp; Libraries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Python 3.13: Core programming language delivering robust native exception handling and pathlib.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Pandas (v2.3.3): High-performance tabular data ingestion, null detection, and DataFrame manipulation.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OpenPyXL (v3.1.5): Low-level Excel styling (navy fills, borders, centered alignment, column autosizing).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ReportLab (v5.0.1): Platypus flowable document template engine for vector PDF synthesis.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Python-PPTX (v1.0.2): Automated slide generation conforming to CA3 presentation criteria.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0F766E"/>
                </a:solidFill>
              </a:defRPr>
            </a:pPr>
            <a:r>
              <a:t>Modular Source Architecture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main.py: Orchestrator separating logging, metric computation, PDF generation, and Excel export.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generate_test_data.py: Generates valid cohort records and critical boundary edge cases.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compute_academic_metrics(): Calculates total marks, aggregate percentage, pass/fail, and letter grades.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generate_pdf_report_card(): Builds institutional header, metadata, marks table, summary, and signatures.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export_processed_excel(): Writes Processed_Results.xlsx with professional cell formatting.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CA3 MINI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Mathematical Formulations &amp; Academic Grading Algorithms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1A365D"/>
                </a:solidFill>
              </a:defRPr>
            </a:pPr>
            <a:r>
              <a:t>Mathematical Formulations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Total Marks (out of 300):</a:t>
            </a:r>
            <a:br/>
            <a:r>
              <a:t>Total = Math + Science + English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Aggregate Percentage:</a:t>
            </a:r>
            <a:br/>
            <a:r>
              <a:t>Percentage = (Total / 300.0) * 100.0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Subject-Level Pass Condition:</a:t>
            </a:r>
            <a:br/>
            <a:r>
              <a:t>Student passes a subject if Mark &gt;= 35.0. If any subject &lt; 35.0, Result is FAIL.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Overall Result Status:</a:t>
            </a:r>
            <a:br/>
            <a:r>
              <a:t>Result = 'FAIL' if (Any Subject &lt; 35.0 or Percentage &lt; 40.0%); otherwise 'PASS'.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0F766E"/>
                </a:solidFill>
              </a:defRPr>
            </a:pPr>
            <a:r>
              <a:t>Academic Grade Thresholds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Grade A (Distinction): Aggregate Percentage &gt;= 80.0% (and all subjects passed).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Grade B (First Class): 65.0% &lt;= Aggregate Percentage &lt; 80.0%.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Grade C (Second Class): 50.0% &lt;= Aggregate Percentage &lt; 65.0%.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Grade Pass (Third Class): 40.0% &lt;= Aggregate Percentage &lt; 50.0%.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• Grade Fail: Result == 'FAIL' (failed any subject or aggregate &lt; 40.0%).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CA3 MINI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Defensive Exception Handling: Tier 1 (File &amp; Schema Guard)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B91C1C"/>
                </a:solidFill>
              </a:defRPr>
            </a:pPr>
            <a:r>
              <a:t>Tier 1 Defensive Boundary (Global Guard)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Trapped Exceptions: FileNotFoundError, KeyError, generic Exception.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Scope of Execution: Wraps the file-loading and schema-checking boundary before batch iteration begins.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Trigger Scenario A (Missing File): User specifies a file path that does not exist on disk (e.g. python main.py missing.xlsx).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Trigger Scenario B (Corrupt Schema): Input Excel sheet is missing required column headers (Student ID, Name, Math, Science, English, Attendance %).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Defensive Behavior: Intercepts exception cleanly; formats high-priority diagnostic payload with required schema details.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Logging Action: Appends complete diagnostic record to error_log.txt with ISO timestamp and target file path.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Zero-Crash Guarantee: Emits user-friendly terminal warning and terminates safely with 0 raw interpreter traceback.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CA3 MINI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Defensive Exception Handling: Tier 2 (Row Data Integrity)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D97706"/>
                </a:solidFill>
              </a:defRPr>
            </a:pPr>
            <a:r>
              <a:t>Tier 2 Defensive Boundary (Row-Isolated Guard)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Trapped Exceptions: ValueError, TypeError.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Scope of Execution: Wraps each individual student record inside the for-loop iteration.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Edge Case 1 (Negative Score): Math = -15 -&gt; Caught by boundary check (score &lt; 0.0).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Edge Case 2 (Out-of-Bounds Score): Science = 150 -&gt; Caught by boundary check (score &gt; 100.0).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Edge Case 3 (Non-Numeric Data): English = 'Absent' -&gt; Caught during float(raw_val) conversion.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Edge Case 4 (Missing Primary Key): Student ID is None or blank -&gt; Caught by null check.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Isolation &amp; Logging: Offending row is skipped; Excel row number, Student ID, and row dictionary logged to error_log.txt.</a:t>
            </a:r>
          </a:p>
          <a:p>
            <a:pPr>
              <a:spcAft>
                <a:spcPts val="700"/>
              </a:spcAft>
              <a:defRPr sz="1100">
                <a:solidFill>
                  <a:srgbClr val="1E293B"/>
                </a:solidFill>
              </a:defRPr>
            </a:pPr>
            <a:r>
              <a:t>• Uninterrupted Cohort Execution: Executes Python 'continue'; remaining valid cohort rows (e.g. STU205) process and generate PDFs without interruption!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CA3 MINI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Live Execution Results &amp; Bulk Output Showcase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0F766E"/>
                </a:solidFill>
              </a:defRPr>
            </a:pPr>
            <a:r>
              <a:t>Test Scenario B (Valid Input)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Input Dataset: student_input_valid.xlsx (5 clean student records).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Processed Records: 5/5 rows processed cleanly in &lt; 0.2 seconds.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Emitted PDFs: 5 individual vector PDF report cards in Output_PDFs/ (STU101 to STU105).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Grades Assigned: 2 Grade A, 1 Grade B, 1 Grade C, 1 Grade Pass.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Master Excel: Processed_Results.xlsx created with styled navy headers and autosized columns.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1A365D"/>
                </a:solidFill>
              </a:defRPr>
            </a:pPr>
            <a:r>
              <a:t>Test Scenario C (Dirty Input)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Input Dataset: student_input_invalid.xlsx (4 dirty records + 1 clean record).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Dirty Rows Caught: Rows 2, 3, 4, 5 caught by Scenario 2 boundary/type checks.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Audit Logging: All 4 errors recorded in error_log.txt with complete row data.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Cohort Continuity: Row 6 (STU205 Ishaan Gupta) processed cleanly to PDF.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Robustness Audit: ZERO unhandled crashes; system proves 100% fault-tolerant.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CA3 MINI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10-Point Comprehensive Test Case Verification Matrix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926080"/>
                <a:gridCol w="4572000"/>
                <a:gridCol w="182880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Input Test Condition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Observed System Behavior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Audit Status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student_input_valid.xlsx</a:t>
                      </a:r>
                      <a:br/>
                      <a:r>
                        <a:t>(5 clean records)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 Report Cards emitted in Output_PDFs/</a:t>
                      </a:r>
                      <a:br/>
                      <a:r>
                        <a:t>Processed_Results.xlsx created.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</a:defRPr>
                      </a:pPr>
                      <a:r>
                        <a:t>100%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Negative mark (-15 Math)</a:t>
                      </a:r>
                      <a:br/>
                      <a:r>
                        <a:t>Row 2 in invalid input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Scenario 2 caught ValueError;</a:t>
                      </a:r>
                      <a:br/>
                      <a:r>
                        <a:t>skipped row and logged to error_log.txt.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</a:defRPr>
                      </a:pPr>
                      <a:r>
                        <a:t>100% 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Score &gt; 100 (150 Sci)</a:t>
                      </a:r>
                      <a:br/>
                      <a:r>
                        <a:t>Row 3 in invalid 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Scenario 2 caught ValueError;</a:t>
                      </a:r>
                      <a:br/>
                      <a:r>
                        <a:t>skipped row and logged to error_log.txt.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</a:defRPr>
                      </a:pPr>
                      <a:r>
                        <a:t>100%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Non-numeric ('Absent')</a:t>
                      </a:r>
                      <a:br/>
                      <a:r>
                        <a:t>Row 4 in invalid input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Scenario 2 caught float error;</a:t>
                      </a:r>
                      <a:br/>
                      <a:r>
                        <a:t>skipped row and logged to error_log.txt.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</a:defRPr>
                      </a:pPr>
                      <a:r>
                        <a:t>100% 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TC-05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Valid row in dirty sheet</a:t>
                      </a:r>
                      <a:br/>
                      <a:r>
                        <a:t>Row 6 (STU205)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Processed successfully to PDF;</a:t>
                      </a:r>
                      <a:br/>
                      <a:r>
                        <a:t>ReportCard_STU205.pdf created.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</a:defRPr>
                      </a:pPr>
                      <a:r>
                        <a:t>100%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CA3 MINI PROJECT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Individual Technical Contributions (3-Student Team)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Aditya Shankar Datta</a:t>
            </a:r>
          </a:p>
          <a:p>
            <a:pPr>
              <a:defRPr sz="1050" b="1">
                <a:solidFill>
                  <a:srgbClr val="64748B"/>
                </a:solidFill>
              </a:defRPr>
            </a:pPr>
            <a:r>
              <a:t>PRN: 24070127009</a:t>
            </a:r>
          </a:p>
          <a:p>
            <a:pPr>
              <a:spcAft>
                <a:spcPts val="1000"/>
              </a:spcAft>
              <a:defRPr sz="1050" b="1">
                <a:solidFill>
                  <a:srgbClr val="0F766E"/>
                </a:solidFill>
              </a:defRPr>
            </a:pPr>
            <a:r>
              <a:t>Project Lead &amp; Core Backend Architect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Architecture design of main.py pipeline.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Pandas data ingestion &amp; schema resolution.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Mathematical academic grading algorithms.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Authored Architecture &amp; Grading sections.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7472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766E"/>
                </a:solidFill>
              </a:defRPr>
            </a:pPr>
            <a:r>
              <a:t>Pushkal Karakavalasa</a:t>
            </a:r>
          </a:p>
          <a:p>
            <a:pPr>
              <a:defRPr sz="1050" b="1">
                <a:solidFill>
                  <a:srgbClr val="64748B"/>
                </a:solidFill>
              </a:defRPr>
            </a:pPr>
            <a:r>
              <a:t>PRN: 24070127057</a:t>
            </a:r>
          </a:p>
          <a:p>
            <a:pPr>
              <a:spcAft>
                <a:spcPts val="1000"/>
              </a:spcAft>
              <a:defRPr sz="1050" b="1">
                <a:solidFill>
                  <a:srgbClr val="0F766E"/>
                </a:solidFill>
              </a:defRPr>
            </a:pPr>
            <a:r>
              <a:t>Defensive Engineering &amp; Logging Lead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Two-tier exception handling architecture.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Scenario 1 outer &amp; Scenario 2 inner guards.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Persistent error_log.txt audit subsystem.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OpenPyXL styled master Excel export.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371600"/>
            <a:ext cx="347472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Aniket Atole</a:t>
            </a:r>
          </a:p>
          <a:p>
            <a:pPr>
              <a:defRPr sz="1050" b="1">
                <a:solidFill>
                  <a:srgbClr val="64748B"/>
                </a:solidFill>
              </a:defRPr>
            </a:pPr>
            <a:r>
              <a:t>PRN: 24070127017</a:t>
            </a:r>
          </a:p>
          <a:p>
            <a:pPr>
              <a:spcAft>
                <a:spcPts val="1000"/>
              </a:spcAft>
              <a:defRPr sz="1050" b="1">
                <a:solidFill>
                  <a:srgbClr val="0F766E"/>
                </a:solidFill>
              </a:defRPr>
            </a:pPr>
            <a:r>
              <a:t>Document Engineering &amp; QA Specialist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ReportLab Platypus vector PDF engine.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Test data generator (generate_test_data.py).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10-point test matrix &amp; autonomous test runner.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Visual assets, presentation deck &amp; viva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